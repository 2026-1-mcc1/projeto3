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3398500" cy="20104100"/>
  <p:notesSz cx="133985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1" d="100"/>
          <a:sy n="71" d="100"/>
        </p:scale>
        <p:origin x="1806" y="-9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363" y="6232271"/>
            <a:ext cx="1139412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0727" y="11258296"/>
            <a:ext cx="938339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242" y="4623943"/>
            <a:ext cx="583111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3497" y="4623943"/>
            <a:ext cx="583111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4178354"/>
            <a:ext cx="430530" cy="2938780"/>
          </a:xfrm>
          <a:custGeom>
            <a:avLst/>
            <a:gdLst/>
            <a:ahLst/>
            <a:cxnLst/>
            <a:rect l="l" t="t" r="r" b="b"/>
            <a:pathLst>
              <a:path w="430530" h="2938780">
                <a:moveTo>
                  <a:pt x="0" y="2938496"/>
                </a:moveTo>
                <a:lnTo>
                  <a:pt x="429915" y="2938496"/>
                </a:lnTo>
                <a:lnTo>
                  <a:pt x="429915" y="0"/>
                </a:lnTo>
                <a:lnTo>
                  <a:pt x="0" y="0"/>
                </a:lnTo>
                <a:lnTo>
                  <a:pt x="0" y="2938496"/>
                </a:lnTo>
                <a:close/>
              </a:path>
            </a:pathLst>
          </a:custGeom>
          <a:solidFill>
            <a:srgbClr val="044F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896379" y="14178354"/>
            <a:ext cx="155575" cy="2938780"/>
          </a:xfrm>
          <a:custGeom>
            <a:avLst/>
            <a:gdLst/>
            <a:ahLst/>
            <a:cxnLst/>
            <a:rect l="l" t="t" r="r" b="b"/>
            <a:pathLst>
              <a:path w="155575" h="2938780">
                <a:moveTo>
                  <a:pt x="0" y="2938496"/>
                </a:moveTo>
                <a:lnTo>
                  <a:pt x="155124" y="2938496"/>
                </a:lnTo>
                <a:lnTo>
                  <a:pt x="155124" y="0"/>
                </a:lnTo>
                <a:lnTo>
                  <a:pt x="0" y="0"/>
                </a:lnTo>
                <a:lnTo>
                  <a:pt x="0" y="2938496"/>
                </a:lnTo>
                <a:close/>
              </a:path>
            </a:pathLst>
          </a:custGeom>
          <a:solidFill>
            <a:srgbClr val="044F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999409" y="14178354"/>
            <a:ext cx="403860" cy="2938780"/>
          </a:xfrm>
          <a:custGeom>
            <a:avLst/>
            <a:gdLst/>
            <a:ahLst/>
            <a:cxnLst/>
            <a:rect l="l" t="t" r="r" b="b"/>
            <a:pathLst>
              <a:path w="403859" h="2938780">
                <a:moveTo>
                  <a:pt x="0" y="2938496"/>
                </a:moveTo>
                <a:lnTo>
                  <a:pt x="403322" y="2938496"/>
                </a:lnTo>
                <a:lnTo>
                  <a:pt x="403322" y="0"/>
                </a:lnTo>
                <a:lnTo>
                  <a:pt x="0" y="0"/>
                </a:lnTo>
                <a:lnTo>
                  <a:pt x="0" y="2938496"/>
                </a:lnTo>
                <a:close/>
              </a:path>
            </a:pathLst>
          </a:custGeom>
          <a:solidFill>
            <a:srgbClr val="044F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7463691"/>
            <a:ext cx="7047230" cy="13335"/>
          </a:xfrm>
          <a:custGeom>
            <a:avLst/>
            <a:gdLst/>
            <a:ahLst/>
            <a:cxnLst/>
            <a:rect l="l" t="t" r="r" b="b"/>
            <a:pathLst>
              <a:path w="7047230" h="13334">
                <a:moveTo>
                  <a:pt x="0" y="13296"/>
                </a:moveTo>
                <a:lnTo>
                  <a:pt x="7047071" y="13296"/>
                </a:lnTo>
                <a:lnTo>
                  <a:pt x="7047071" y="0"/>
                </a:lnTo>
                <a:lnTo>
                  <a:pt x="0" y="0"/>
                </a:lnTo>
                <a:lnTo>
                  <a:pt x="0" y="13296"/>
                </a:lnTo>
                <a:close/>
              </a:path>
            </a:pathLst>
          </a:custGeom>
          <a:solidFill>
            <a:srgbClr val="044F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972817" y="7463691"/>
            <a:ext cx="430530" cy="13335"/>
          </a:xfrm>
          <a:custGeom>
            <a:avLst/>
            <a:gdLst/>
            <a:ahLst/>
            <a:cxnLst/>
            <a:rect l="l" t="t" r="r" b="b"/>
            <a:pathLst>
              <a:path w="430530" h="13334">
                <a:moveTo>
                  <a:pt x="0" y="13296"/>
                </a:moveTo>
                <a:lnTo>
                  <a:pt x="429915" y="13296"/>
                </a:lnTo>
                <a:lnTo>
                  <a:pt x="429915" y="0"/>
                </a:lnTo>
                <a:lnTo>
                  <a:pt x="0" y="0"/>
                </a:lnTo>
                <a:lnTo>
                  <a:pt x="0" y="13296"/>
                </a:lnTo>
                <a:close/>
              </a:path>
            </a:pathLst>
          </a:custGeom>
          <a:solidFill>
            <a:srgbClr val="044F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17945657"/>
            <a:ext cx="13402944" cy="2159000"/>
          </a:xfrm>
          <a:custGeom>
            <a:avLst/>
            <a:gdLst/>
            <a:ahLst/>
            <a:cxnLst/>
            <a:rect l="l" t="t" r="r" b="b"/>
            <a:pathLst>
              <a:path w="13402944" h="2159000">
                <a:moveTo>
                  <a:pt x="0" y="2158442"/>
                </a:moveTo>
                <a:lnTo>
                  <a:pt x="13402733" y="2158442"/>
                </a:lnTo>
                <a:lnTo>
                  <a:pt x="13402733" y="0"/>
                </a:lnTo>
                <a:lnTo>
                  <a:pt x="0" y="0"/>
                </a:lnTo>
                <a:lnTo>
                  <a:pt x="0" y="2158442"/>
                </a:lnTo>
                <a:close/>
              </a:path>
            </a:pathLst>
          </a:custGeom>
          <a:solidFill>
            <a:srgbClr val="0FE68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71464" y="16208266"/>
            <a:ext cx="10597200" cy="3895831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0" y="14178354"/>
            <a:ext cx="13402944" cy="3767454"/>
          </a:xfrm>
          <a:custGeom>
            <a:avLst/>
            <a:gdLst/>
            <a:ahLst/>
            <a:cxnLst/>
            <a:rect l="l" t="t" r="r" b="b"/>
            <a:pathLst>
              <a:path w="13402944" h="3767455">
                <a:moveTo>
                  <a:pt x="0" y="3767302"/>
                </a:moveTo>
                <a:lnTo>
                  <a:pt x="13402733" y="3767302"/>
                </a:lnTo>
                <a:lnTo>
                  <a:pt x="13402733" y="0"/>
                </a:lnTo>
                <a:lnTo>
                  <a:pt x="0" y="0"/>
                </a:lnTo>
                <a:lnTo>
                  <a:pt x="0" y="3767302"/>
                </a:lnTo>
                <a:close/>
              </a:path>
            </a:pathLst>
          </a:custGeom>
          <a:solidFill>
            <a:srgbClr val="044F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11137919"/>
            <a:ext cx="13402944" cy="3041015"/>
          </a:xfrm>
          <a:custGeom>
            <a:avLst/>
            <a:gdLst/>
            <a:ahLst/>
            <a:cxnLst/>
            <a:rect l="l" t="t" r="r" b="b"/>
            <a:pathLst>
              <a:path w="13402944" h="3041015">
                <a:moveTo>
                  <a:pt x="0" y="3040434"/>
                </a:moveTo>
                <a:lnTo>
                  <a:pt x="13402733" y="3040434"/>
                </a:lnTo>
                <a:lnTo>
                  <a:pt x="13402733" y="0"/>
                </a:lnTo>
                <a:lnTo>
                  <a:pt x="0" y="0"/>
                </a:lnTo>
                <a:lnTo>
                  <a:pt x="0" y="3040434"/>
                </a:lnTo>
                <a:close/>
              </a:path>
            </a:pathLst>
          </a:custGeom>
          <a:solidFill>
            <a:srgbClr val="0133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7476997"/>
            <a:ext cx="13402944" cy="3661410"/>
          </a:xfrm>
          <a:custGeom>
            <a:avLst/>
            <a:gdLst/>
            <a:ahLst/>
            <a:cxnLst/>
            <a:rect l="l" t="t" r="r" b="b"/>
            <a:pathLst>
              <a:path w="13402944" h="3661409">
                <a:moveTo>
                  <a:pt x="7047065" y="0"/>
                </a:moveTo>
                <a:lnTo>
                  <a:pt x="0" y="0"/>
                </a:lnTo>
                <a:lnTo>
                  <a:pt x="0" y="3660927"/>
                </a:lnTo>
                <a:lnTo>
                  <a:pt x="7047065" y="3660927"/>
                </a:lnTo>
                <a:lnTo>
                  <a:pt x="7047065" y="0"/>
                </a:lnTo>
                <a:close/>
              </a:path>
              <a:path w="13402944" h="3661409">
                <a:moveTo>
                  <a:pt x="13402729" y="0"/>
                </a:moveTo>
                <a:lnTo>
                  <a:pt x="12972809" y="0"/>
                </a:lnTo>
                <a:lnTo>
                  <a:pt x="12972809" y="3660927"/>
                </a:lnTo>
                <a:lnTo>
                  <a:pt x="13402729" y="3660927"/>
                </a:lnTo>
                <a:lnTo>
                  <a:pt x="13402729" y="0"/>
                </a:lnTo>
                <a:close/>
              </a:path>
            </a:pathLst>
          </a:custGeom>
          <a:solidFill>
            <a:srgbClr val="0A9E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0" y="3944587"/>
            <a:ext cx="13402944" cy="3519170"/>
          </a:xfrm>
          <a:custGeom>
            <a:avLst/>
            <a:gdLst/>
            <a:ahLst/>
            <a:cxnLst/>
            <a:rect l="l" t="t" r="r" b="b"/>
            <a:pathLst>
              <a:path w="13402944" h="3519170">
                <a:moveTo>
                  <a:pt x="0" y="3519103"/>
                </a:moveTo>
                <a:lnTo>
                  <a:pt x="13402733" y="3519103"/>
                </a:lnTo>
                <a:lnTo>
                  <a:pt x="13402733" y="0"/>
                </a:lnTo>
                <a:lnTo>
                  <a:pt x="0" y="0"/>
                </a:lnTo>
                <a:lnTo>
                  <a:pt x="0" y="3519103"/>
                </a:lnTo>
                <a:close/>
              </a:path>
            </a:pathLst>
          </a:custGeom>
          <a:solidFill>
            <a:srgbClr val="0773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0" y="0"/>
            <a:ext cx="13402944" cy="3944620"/>
          </a:xfrm>
          <a:custGeom>
            <a:avLst/>
            <a:gdLst/>
            <a:ahLst/>
            <a:cxnLst/>
            <a:rect l="l" t="t" r="r" b="b"/>
            <a:pathLst>
              <a:path w="13402944" h="3944620">
                <a:moveTo>
                  <a:pt x="0" y="3944588"/>
                </a:moveTo>
                <a:lnTo>
                  <a:pt x="13402733" y="3944588"/>
                </a:lnTo>
                <a:lnTo>
                  <a:pt x="13402733" y="0"/>
                </a:lnTo>
                <a:lnTo>
                  <a:pt x="0" y="0"/>
                </a:lnTo>
                <a:lnTo>
                  <a:pt x="0" y="3944588"/>
                </a:lnTo>
                <a:close/>
              </a:path>
            </a:pathLst>
          </a:custGeom>
          <a:solidFill>
            <a:srgbClr val="0FE6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7047072" y="4347911"/>
            <a:ext cx="5925820" cy="8949055"/>
          </a:xfrm>
          <a:custGeom>
            <a:avLst/>
            <a:gdLst/>
            <a:ahLst/>
            <a:cxnLst/>
            <a:rect l="l" t="t" r="r" b="b"/>
            <a:pathLst>
              <a:path w="5925820" h="8949055">
                <a:moveTo>
                  <a:pt x="5925745" y="0"/>
                </a:moveTo>
                <a:lnTo>
                  <a:pt x="0" y="0"/>
                </a:lnTo>
                <a:lnTo>
                  <a:pt x="0" y="8948451"/>
                </a:lnTo>
                <a:lnTo>
                  <a:pt x="5925745" y="8948451"/>
                </a:lnTo>
                <a:lnTo>
                  <a:pt x="59257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7047072" y="4347911"/>
            <a:ext cx="5925820" cy="8949055"/>
          </a:xfrm>
          <a:custGeom>
            <a:avLst/>
            <a:gdLst/>
            <a:ahLst/>
            <a:cxnLst/>
            <a:rect l="l" t="t" r="r" b="b"/>
            <a:pathLst>
              <a:path w="5925820" h="8949055">
                <a:moveTo>
                  <a:pt x="0" y="8948451"/>
                </a:moveTo>
                <a:lnTo>
                  <a:pt x="5925745" y="8948451"/>
                </a:lnTo>
                <a:lnTo>
                  <a:pt x="5925745" y="0"/>
                </a:lnTo>
                <a:lnTo>
                  <a:pt x="0" y="0"/>
                </a:lnTo>
                <a:lnTo>
                  <a:pt x="0" y="8948451"/>
                </a:lnTo>
                <a:close/>
              </a:path>
            </a:pathLst>
          </a:custGeom>
          <a:ln w="8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29915" y="14156194"/>
            <a:ext cx="6466840" cy="3634740"/>
          </a:xfrm>
          <a:custGeom>
            <a:avLst/>
            <a:gdLst/>
            <a:ahLst/>
            <a:cxnLst/>
            <a:rect l="l" t="t" r="r" b="b"/>
            <a:pathLst>
              <a:path w="6466840" h="3634740">
                <a:moveTo>
                  <a:pt x="6466464" y="0"/>
                </a:moveTo>
                <a:lnTo>
                  <a:pt x="0" y="0"/>
                </a:lnTo>
                <a:lnTo>
                  <a:pt x="0" y="3634338"/>
                </a:lnTo>
                <a:lnTo>
                  <a:pt x="6466464" y="3634338"/>
                </a:lnTo>
                <a:lnTo>
                  <a:pt x="64664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29915" y="14156194"/>
            <a:ext cx="6466840" cy="3634740"/>
          </a:xfrm>
          <a:custGeom>
            <a:avLst/>
            <a:gdLst/>
            <a:ahLst/>
            <a:cxnLst/>
            <a:rect l="l" t="t" r="r" b="b"/>
            <a:pathLst>
              <a:path w="6466840" h="3634740">
                <a:moveTo>
                  <a:pt x="0" y="3634338"/>
                </a:moveTo>
                <a:lnTo>
                  <a:pt x="6466464" y="3634338"/>
                </a:lnTo>
                <a:lnTo>
                  <a:pt x="6466464" y="0"/>
                </a:lnTo>
                <a:lnTo>
                  <a:pt x="0" y="0"/>
                </a:lnTo>
                <a:lnTo>
                  <a:pt x="0" y="3634338"/>
                </a:lnTo>
                <a:close/>
              </a:path>
            </a:pathLst>
          </a:custGeom>
          <a:ln w="8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7051503" y="13411598"/>
            <a:ext cx="5948045" cy="4352925"/>
          </a:xfrm>
          <a:custGeom>
            <a:avLst/>
            <a:gdLst/>
            <a:ahLst/>
            <a:cxnLst/>
            <a:rect l="l" t="t" r="r" b="b"/>
            <a:pathLst>
              <a:path w="5948045" h="4352925">
                <a:moveTo>
                  <a:pt x="5947905" y="0"/>
                </a:moveTo>
                <a:lnTo>
                  <a:pt x="0" y="0"/>
                </a:lnTo>
                <a:lnTo>
                  <a:pt x="0" y="4352342"/>
                </a:lnTo>
                <a:lnTo>
                  <a:pt x="5947905" y="4352342"/>
                </a:lnTo>
                <a:lnTo>
                  <a:pt x="59479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7051503" y="13411598"/>
            <a:ext cx="5948045" cy="4352925"/>
          </a:xfrm>
          <a:custGeom>
            <a:avLst/>
            <a:gdLst/>
            <a:ahLst/>
            <a:cxnLst/>
            <a:rect l="l" t="t" r="r" b="b"/>
            <a:pathLst>
              <a:path w="5948045" h="4352925">
                <a:moveTo>
                  <a:pt x="0" y="4352342"/>
                </a:moveTo>
                <a:lnTo>
                  <a:pt x="5947905" y="4352342"/>
                </a:lnTo>
                <a:lnTo>
                  <a:pt x="5947905" y="0"/>
                </a:lnTo>
                <a:lnTo>
                  <a:pt x="0" y="0"/>
                </a:lnTo>
                <a:lnTo>
                  <a:pt x="0" y="4352342"/>
                </a:lnTo>
                <a:close/>
              </a:path>
            </a:pathLst>
          </a:custGeom>
          <a:ln w="8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bg object 3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585040"/>
            <a:ext cx="4494170" cy="1320771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91131" y="0"/>
            <a:ext cx="10597200" cy="3944587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790555" y="616065"/>
            <a:ext cx="3363979" cy="109030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675" y="1823853"/>
            <a:ext cx="12976225" cy="1705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0242" y="4623943"/>
            <a:ext cx="1206436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7649" y="18696814"/>
            <a:ext cx="4289552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242" y="18696814"/>
            <a:ext cx="3083115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1492" y="18696814"/>
            <a:ext cx="3083115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squisagamebrasil.com.br/" TargetMode="External"/><Relationship Id="rId7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" TargetMode="External"/><Relationship Id="rId5" Type="http://schemas.openxmlformats.org/officeDocument/2006/relationships/hyperlink" Target="https://www.blender.org/" TargetMode="External"/><Relationship Id="rId4" Type="http://schemas.openxmlformats.org/officeDocument/2006/relationships/hyperlink" Target="https://unity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0382" y="5584720"/>
            <a:ext cx="2038985" cy="41084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5"/>
              </a:spcBef>
            </a:pPr>
            <a:r>
              <a:rPr sz="2350" spc="-185" dirty="0">
                <a:latin typeface="Arial Black"/>
                <a:cs typeface="Arial Black"/>
              </a:rPr>
              <a:t>INTRODUÇÃO</a:t>
            </a:r>
            <a:endParaRPr sz="235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29915" y="8822534"/>
            <a:ext cx="12667615" cy="10925810"/>
            <a:chOff x="425470" y="8828771"/>
            <a:chExt cx="12667615" cy="10925810"/>
          </a:xfrm>
        </p:grpSpPr>
        <p:sp>
          <p:nvSpPr>
            <p:cNvPr id="4" name="object 4"/>
            <p:cNvSpPr/>
            <p:nvPr/>
          </p:nvSpPr>
          <p:spPr>
            <a:xfrm>
              <a:off x="429915" y="8833216"/>
              <a:ext cx="6466840" cy="5172710"/>
            </a:xfrm>
            <a:custGeom>
              <a:avLst/>
              <a:gdLst/>
              <a:ahLst/>
              <a:cxnLst/>
              <a:rect l="l" t="t" r="r" b="b"/>
              <a:pathLst>
                <a:path w="6466840" h="5172709">
                  <a:moveTo>
                    <a:pt x="6466464" y="0"/>
                  </a:moveTo>
                  <a:lnTo>
                    <a:pt x="0" y="0"/>
                  </a:lnTo>
                  <a:lnTo>
                    <a:pt x="0" y="5172284"/>
                  </a:lnTo>
                  <a:lnTo>
                    <a:pt x="6466464" y="5172284"/>
                  </a:lnTo>
                  <a:lnTo>
                    <a:pt x="64664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429915" y="8833216"/>
              <a:ext cx="6466840" cy="5172710"/>
            </a:xfrm>
            <a:custGeom>
              <a:avLst/>
              <a:gdLst/>
              <a:ahLst/>
              <a:cxnLst/>
              <a:rect l="l" t="t" r="r" b="b"/>
              <a:pathLst>
                <a:path w="6466840" h="5172709">
                  <a:moveTo>
                    <a:pt x="0" y="5172284"/>
                  </a:moveTo>
                  <a:lnTo>
                    <a:pt x="6466464" y="5172284"/>
                  </a:lnTo>
                  <a:lnTo>
                    <a:pt x="6466464" y="0"/>
                  </a:lnTo>
                  <a:lnTo>
                    <a:pt x="0" y="0"/>
                  </a:lnTo>
                  <a:lnTo>
                    <a:pt x="0" y="5172284"/>
                  </a:lnTo>
                  <a:close/>
                </a:path>
              </a:pathLst>
            </a:custGeom>
            <a:ln w="8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81965" y="17125715"/>
              <a:ext cx="2610518" cy="2628247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8110" algn="ctr">
              <a:lnSpc>
                <a:spcPct val="100000"/>
              </a:lnSpc>
              <a:spcBef>
                <a:spcPts val="105"/>
              </a:spcBef>
            </a:pPr>
            <a:r>
              <a:rPr i="0" spc="-75" dirty="0"/>
              <a:t>SPHERE</a:t>
            </a:r>
            <a:r>
              <a:rPr i="0" spc="-295" dirty="0"/>
              <a:t> </a:t>
            </a:r>
            <a:r>
              <a:rPr i="0" spc="-10" dirty="0"/>
              <a:t>REBELLION</a:t>
            </a:r>
          </a:p>
          <a:p>
            <a:pPr marL="4351655" marR="5080" indent="-4339590">
              <a:lnSpc>
                <a:spcPct val="126800"/>
              </a:lnSpc>
              <a:spcBef>
                <a:spcPts val="925"/>
              </a:spcBef>
            </a:pPr>
            <a:r>
              <a:rPr lang="pt-BR" sz="1950" b="0" i="0" spc="-105" dirty="0">
                <a:latin typeface="Arial Black"/>
                <a:cs typeface="Arial Black"/>
              </a:rPr>
              <a:t>Max</a:t>
            </a:r>
            <a:r>
              <a:rPr lang="pt-BR" sz="1950" b="0" i="0" spc="-120" dirty="0">
                <a:latin typeface="Arial Black"/>
                <a:cs typeface="Arial Black"/>
              </a:rPr>
              <a:t> </a:t>
            </a:r>
            <a:r>
              <a:rPr lang="pt-BR" sz="1950" b="0" i="0" spc="-140" dirty="0">
                <a:latin typeface="Arial Black"/>
                <a:cs typeface="Arial Black"/>
              </a:rPr>
              <a:t>Tocantins</a:t>
            </a:r>
            <a:r>
              <a:rPr lang="pt-BR" sz="1950" b="0" i="0" spc="-125" dirty="0">
                <a:latin typeface="Arial Black"/>
                <a:cs typeface="Arial Black"/>
              </a:rPr>
              <a:t> </a:t>
            </a:r>
            <a:r>
              <a:rPr lang="pt-BR" sz="1950" b="0" i="0" spc="-105" dirty="0">
                <a:latin typeface="Arial Black"/>
                <a:cs typeface="Arial Black"/>
              </a:rPr>
              <a:t>Quaglia; </a:t>
            </a:r>
            <a:r>
              <a:rPr lang="pt-BR" sz="1950" b="0" i="0" spc="-125" dirty="0">
                <a:latin typeface="Arial Black"/>
                <a:cs typeface="Arial Black"/>
              </a:rPr>
              <a:t>Rafael</a:t>
            </a:r>
            <a:r>
              <a:rPr lang="pt-BR" sz="1950" b="0" i="0" spc="-105" dirty="0">
                <a:latin typeface="Arial Black"/>
                <a:cs typeface="Arial Black"/>
              </a:rPr>
              <a:t> Domingues</a:t>
            </a:r>
            <a:r>
              <a:rPr lang="pt-BR" sz="1950" b="0" i="0" spc="-130" dirty="0">
                <a:latin typeface="Arial Black"/>
                <a:cs typeface="Arial Black"/>
              </a:rPr>
              <a:t> </a:t>
            </a:r>
            <a:r>
              <a:rPr lang="pt-BR" sz="1950" b="0" i="0" spc="-170" dirty="0" err="1">
                <a:latin typeface="Arial Black"/>
                <a:cs typeface="Arial Black"/>
              </a:rPr>
              <a:t>Boccia</a:t>
            </a:r>
            <a:r>
              <a:rPr lang="pt-BR" sz="1950" b="0" i="0" spc="-170" dirty="0">
                <a:latin typeface="Arial Black"/>
                <a:cs typeface="Arial Black"/>
              </a:rPr>
              <a:t>;</a:t>
            </a:r>
            <a:r>
              <a:rPr lang="pt-BR" sz="1950" b="0" i="0" spc="-105" dirty="0">
                <a:latin typeface="Arial Black"/>
                <a:cs typeface="Arial Black"/>
              </a:rPr>
              <a:t> </a:t>
            </a:r>
            <a:r>
              <a:rPr lang="pt-BR" sz="1950" b="0" i="0" spc="-140" dirty="0">
                <a:latin typeface="Arial Black"/>
                <a:cs typeface="Arial Black"/>
              </a:rPr>
              <a:t>Saulo</a:t>
            </a:r>
            <a:r>
              <a:rPr lang="pt-BR" sz="1950" b="0" i="0" spc="-95" dirty="0">
                <a:latin typeface="Arial Black"/>
                <a:cs typeface="Arial Black"/>
              </a:rPr>
              <a:t> </a:t>
            </a:r>
            <a:r>
              <a:rPr lang="pt-BR" sz="1950" b="0" i="0" spc="-185" dirty="0">
                <a:latin typeface="Arial Black"/>
                <a:cs typeface="Arial Black"/>
              </a:rPr>
              <a:t>Sanches</a:t>
            </a:r>
            <a:r>
              <a:rPr lang="pt-BR" sz="1950" b="0" i="0" spc="-135" dirty="0">
                <a:latin typeface="Arial Black"/>
                <a:cs typeface="Arial Black"/>
              </a:rPr>
              <a:t> </a:t>
            </a:r>
            <a:r>
              <a:rPr lang="pt-BR" sz="1950" b="0" i="0" spc="-125" dirty="0">
                <a:latin typeface="Arial Black"/>
                <a:cs typeface="Arial Black"/>
              </a:rPr>
              <a:t>Menezes;</a:t>
            </a:r>
            <a:r>
              <a:rPr lang="pt-BR" sz="1950" b="0" i="0" spc="-145" dirty="0">
                <a:latin typeface="Arial Black"/>
                <a:cs typeface="Arial Black"/>
              </a:rPr>
              <a:t> </a:t>
            </a:r>
            <a:r>
              <a:rPr lang="pt-BR" sz="1950" b="0" i="0" spc="-120" dirty="0">
                <a:latin typeface="Arial Black"/>
                <a:cs typeface="Arial Black"/>
              </a:rPr>
              <a:t>Victor</a:t>
            </a:r>
            <a:r>
              <a:rPr lang="pt-BR" sz="1950" b="0" i="0" spc="-114" dirty="0">
                <a:latin typeface="Arial Black"/>
                <a:cs typeface="Arial Black"/>
              </a:rPr>
              <a:t> </a:t>
            </a:r>
            <a:r>
              <a:rPr lang="pt-BR" sz="1950" b="0" i="0" spc="-130" dirty="0">
                <a:latin typeface="Arial Black"/>
                <a:cs typeface="Arial Black"/>
              </a:rPr>
              <a:t>de</a:t>
            </a:r>
            <a:r>
              <a:rPr lang="pt-BR" sz="1950" b="0" i="0" spc="-105" dirty="0">
                <a:latin typeface="Arial Black"/>
                <a:cs typeface="Arial Black"/>
              </a:rPr>
              <a:t> </a:t>
            </a:r>
            <a:r>
              <a:rPr lang="pt-BR" sz="1950" b="0" i="0" spc="-75" dirty="0">
                <a:latin typeface="Arial Black"/>
                <a:cs typeface="Arial Black"/>
              </a:rPr>
              <a:t>Oliveira</a:t>
            </a:r>
            <a:r>
              <a:rPr lang="pt-BR" sz="1950" b="0" i="0" spc="-10" dirty="0">
                <a:latin typeface="Arial Black"/>
                <a:cs typeface="Arial Black"/>
              </a:rPr>
              <a:t> </a:t>
            </a:r>
            <a:r>
              <a:rPr lang="pt-BR" sz="1950" b="0" i="0" spc="-35" dirty="0">
                <a:latin typeface="Arial Black"/>
                <a:cs typeface="Arial Black"/>
              </a:rPr>
              <a:t>Nascimento </a:t>
            </a:r>
            <a:r>
              <a:rPr lang="pt-BR" sz="1950" b="0" i="0" spc="-70" dirty="0" err="1">
                <a:latin typeface="Arial Black"/>
                <a:cs typeface="Arial Black"/>
              </a:rPr>
              <a:t>Orientadorer</a:t>
            </a:r>
            <a:r>
              <a:rPr lang="pt-BR" sz="1950" b="0" i="0" spc="-70" dirty="0">
                <a:latin typeface="Arial Black"/>
                <a:cs typeface="Arial Black"/>
              </a:rPr>
              <a:t>:</a:t>
            </a:r>
            <a:r>
              <a:rPr lang="pt-BR" sz="1950" b="0" i="0" spc="-145" dirty="0">
                <a:latin typeface="Arial Black"/>
                <a:cs typeface="Arial Black"/>
              </a:rPr>
              <a:t> Victor Bruno Alexander Rosetti de </a:t>
            </a:r>
            <a:r>
              <a:rPr lang="pt-BR" sz="1950" b="0" i="0" spc="-145" dirty="0" err="1">
                <a:latin typeface="Arial Black"/>
                <a:cs typeface="Arial Black"/>
              </a:rPr>
              <a:t>Quiroz</a:t>
            </a:r>
            <a:endParaRPr lang="pt-BR" sz="1950" b="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03383" y="13569505"/>
            <a:ext cx="5588000" cy="3656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97155" algn="ctr">
              <a:lnSpc>
                <a:spcPct val="100000"/>
              </a:lnSpc>
              <a:spcBef>
                <a:spcPts val="95"/>
              </a:spcBef>
            </a:pPr>
            <a:r>
              <a:rPr lang="pt-BR" sz="2200" spc="-280" dirty="0">
                <a:latin typeface="Arial Black"/>
                <a:cs typeface="Arial Black"/>
              </a:rPr>
              <a:t>REFERÊNCIAS</a:t>
            </a:r>
            <a:endParaRPr lang="pt-BR" sz="2200" spc="-100" dirty="0">
              <a:latin typeface="Arial Black"/>
              <a:cs typeface="Arial Black"/>
            </a:endParaRPr>
          </a:p>
          <a:p>
            <a:pPr marR="97155" algn="ctr">
              <a:lnSpc>
                <a:spcPct val="100000"/>
              </a:lnSpc>
              <a:spcBef>
                <a:spcPts val="95"/>
              </a:spcBef>
            </a:pPr>
            <a:endParaRPr sz="2200" dirty="0">
              <a:latin typeface="Arial Black"/>
              <a:cs typeface="Arial Black"/>
            </a:endParaRP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PESQUISA GAME BRASIL. Pesquisa Game Brasil 2024. Disponível em: 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https://www.pesquisagamebrasil.com.br/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. Acesso em: 08 maio 2026.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REYNALDO, Charles; CHRISTIAN, Ryan; HOSEA,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Hansel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; GUNAWAN, Alexander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Agung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Santoso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Video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Games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Improve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Capabilities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Decision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Making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Cognitive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Skill: A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Literature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Review. Procedia Computer Science, v. 179, p. 211–221, 2021.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KRAUSE, Katiane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Kazuza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Gneipel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; HOUNSELL, Marcelo da Silva; GASPARINI, Isabela. Um Modelo para Inter-relação entre Funções Executivas e Elementos de Jogos Digitais. Revista Brasileira de Informática na Educação, v. 28, p. 814–839, 2020.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UNITY TECHNOLOGIES. Unity Real-Time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Development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Platform. Disponível em: 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https://unity.com/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. Acesso em: 08 maio 2026.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BLENDER FOUNDATION. Blender Open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3D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Creation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Suite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. Disponível em: 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https://www.blender.org/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. Acesso em: 08 maio 2026.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GITHUB. GitHub Platform. Disponível em: 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https://github.com/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. Acesso em: 08 maio 2026.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592796" y="18392361"/>
            <a:ext cx="8091170" cy="101028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15"/>
              </a:spcBef>
            </a:pPr>
            <a:r>
              <a:rPr sz="2300" spc="-215" dirty="0">
                <a:latin typeface="Arial Black"/>
                <a:cs typeface="Arial Black"/>
              </a:rPr>
              <a:t>IV</a:t>
            </a:r>
            <a:r>
              <a:rPr sz="2300" spc="-150" dirty="0">
                <a:latin typeface="Arial Black"/>
                <a:cs typeface="Arial Black"/>
              </a:rPr>
              <a:t> </a:t>
            </a:r>
            <a:r>
              <a:rPr sz="2300" spc="-225" dirty="0">
                <a:latin typeface="Arial Black"/>
                <a:cs typeface="Arial Black"/>
              </a:rPr>
              <a:t>SEMANA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295" dirty="0">
                <a:latin typeface="Arial Black"/>
                <a:cs typeface="Arial Black"/>
              </a:rPr>
              <a:t>FECAP</a:t>
            </a:r>
            <a:r>
              <a:rPr sz="2300" spc="-145" dirty="0">
                <a:latin typeface="Arial Black"/>
                <a:cs typeface="Arial Black"/>
              </a:rPr>
              <a:t> </a:t>
            </a:r>
            <a:r>
              <a:rPr sz="2300" spc="-254" dirty="0">
                <a:latin typeface="Arial Black"/>
                <a:cs typeface="Arial Black"/>
              </a:rPr>
              <a:t>DE</a:t>
            </a:r>
            <a:r>
              <a:rPr sz="2300" spc="-125" dirty="0">
                <a:latin typeface="Arial Black"/>
                <a:cs typeface="Arial Black"/>
              </a:rPr>
              <a:t> </a:t>
            </a:r>
            <a:r>
              <a:rPr sz="2300" spc="-220" dirty="0">
                <a:latin typeface="Arial Black"/>
                <a:cs typeface="Arial Black"/>
              </a:rPr>
              <a:t>TECNOLOGIA</a:t>
            </a:r>
            <a:r>
              <a:rPr sz="2300" spc="-110" dirty="0">
                <a:latin typeface="Arial Black"/>
                <a:cs typeface="Arial Black"/>
              </a:rPr>
              <a:t> </a:t>
            </a:r>
            <a:r>
              <a:rPr sz="2300" spc="-30" dirty="0">
                <a:latin typeface="Arial Black"/>
                <a:cs typeface="Arial Black"/>
              </a:rPr>
              <a:t>-</a:t>
            </a:r>
            <a:r>
              <a:rPr sz="2300" spc="-155" dirty="0">
                <a:latin typeface="Arial Black"/>
                <a:cs typeface="Arial Black"/>
              </a:rPr>
              <a:t> </a:t>
            </a:r>
            <a:r>
              <a:rPr sz="2300" spc="-20" dirty="0">
                <a:latin typeface="Arial Black"/>
                <a:cs typeface="Arial Black"/>
              </a:rPr>
              <a:t>2026</a:t>
            </a:r>
            <a:endParaRPr sz="2300" dirty="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1115"/>
              </a:spcBef>
            </a:pPr>
            <a:r>
              <a:rPr sz="2300" spc="-160" dirty="0">
                <a:latin typeface="Arial Black"/>
                <a:cs typeface="Arial Black"/>
              </a:rPr>
              <a:t>Fundação</a:t>
            </a:r>
            <a:r>
              <a:rPr sz="2300" spc="-125" dirty="0">
                <a:latin typeface="Arial Black"/>
                <a:cs typeface="Arial Black"/>
              </a:rPr>
              <a:t> </a:t>
            </a:r>
            <a:r>
              <a:rPr sz="2300" spc="-229" dirty="0">
                <a:latin typeface="Arial Black"/>
                <a:cs typeface="Arial Black"/>
              </a:rPr>
              <a:t>Escola</a:t>
            </a:r>
            <a:r>
              <a:rPr sz="2300" spc="-140" dirty="0">
                <a:latin typeface="Arial Black"/>
                <a:cs typeface="Arial Black"/>
              </a:rPr>
              <a:t> </a:t>
            </a:r>
            <a:r>
              <a:rPr sz="2300" spc="-145" dirty="0">
                <a:latin typeface="Arial Black"/>
                <a:cs typeface="Arial Black"/>
              </a:rPr>
              <a:t>de </a:t>
            </a:r>
            <a:r>
              <a:rPr sz="2300" spc="-160" dirty="0">
                <a:latin typeface="Arial Black"/>
                <a:cs typeface="Arial Black"/>
              </a:rPr>
              <a:t>Comércio</a:t>
            </a:r>
            <a:r>
              <a:rPr sz="2300" spc="-145" dirty="0">
                <a:latin typeface="Arial Black"/>
                <a:cs typeface="Arial Black"/>
              </a:rPr>
              <a:t> </a:t>
            </a:r>
            <a:r>
              <a:rPr sz="2300" spc="-140" dirty="0">
                <a:latin typeface="Arial Black"/>
                <a:cs typeface="Arial Black"/>
              </a:rPr>
              <a:t>Álvares</a:t>
            </a:r>
            <a:r>
              <a:rPr sz="2300" spc="-135" dirty="0">
                <a:latin typeface="Arial Black"/>
                <a:cs typeface="Arial Black"/>
              </a:rPr>
              <a:t> Penteado </a:t>
            </a:r>
            <a:r>
              <a:rPr sz="2300" spc="-30" dirty="0">
                <a:latin typeface="Arial Black"/>
                <a:cs typeface="Arial Black"/>
              </a:rPr>
              <a:t>-</a:t>
            </a:r>
            <a:r>
              <a:rPr sz="2300" spc="-145" dirty="0">
                <a:latin typeface="Arial Black"/>
                <a:cs typeface="Arial Black"/>
              </a:rPr>
              <a:t> </a:t>
            </a:r>
            <a:r>
              <a:rPr sz="2300" spc="-300" dirty="0">
                <a:latin typeface="Arial Black"/>
                <a:cs typeface="Arial Black"/>
              </a:rPr>
              <a:t>FECAP</a:t>
            </a:r>
            <a:endParaRPr sz="2300" dirty="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47013" y="4519943"/>
            <a:ext cx="5508625" cy="56271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7205">
              <a:lnSpc>
                <a:spcPct val="100000"/>
              </a:lnSpc>
              <a:spcBef>
                <a:spcPts val="100"/>
              </a:spcBef>
            </a:pPr>
            <a:r>
              <a:rPr lang="pt-BR" sz="2200" spc="-200" dirty="0">
                <a:latin typeface="Arial Black"/>
                <a:cs typeface="Arial Black"/>
              </a:rPr>
              <a:t>                   RESULTADOS</a:t>
            </a:r>
          </a:p>
          <a:p>
            <a:pPr marL="497205">
              <a:lnSpc>
                <a:spcPct val="100000"/>
              </a:lnSpc>
              <a:spcBef>
                <a:spcPts val="100"/>
              </a:spcBef>
            </a:pPr>
            <a:endParaRPr sz="2200" dirty="0">
              <a:latin typeface="Arial Black"/>
              <a:cs typeface="Arial Black"/>
            </a:endParaRPr>
          </a:p>
          <a:p>
            <a:pPr algn="just"/>
            <a:r>
              <a:rPr lang="pt-BR" sz="1600" dirty="0"/>
              <a:t>Os resultados obtidos no desenvolvimento de “</a:t>
            </a:r>
            <a:r>
              <a:rPr lang="pt-BR" sz="1600" dirty="0" err="1"/>
              <a:t>Sphere</a:t>
            </a:r>
            <a:r>
              <a:rPr lang="pt-BR" sz="1600" dirty="0"/>
              <a:t> </a:t>
            </a:r>
            <a:r>
              <a:rPr lang="pt-BR" sz="1600" dirty="0" err="1"/>
              <a:t>Rebellion</a:t>
            </a:r>
            <a:r>
              <a:rPr lang="pt-BR" sz="1600" dirty="0"/>
              <a:t>” demonstraram a implementação funcional das principais mecânicas e sistemas planejados para o projeto. Foi concluída a estrutura central da gameplay, incluindo movimentação do personagem, sistema de disparo, munição, colisão e encaixe correto das esferas em seus respectivos pontos de cor.</a:t>
            </a:r>
          </a:p>
          <a:p>
            <a:pPr algn="just"/>
            <a:r>
              <a:rPr lang="pt-BR" sz="1600" dirty="0"/>
              <a:t>Também foram desenvolvidos os elementos visuais e estruturais do jogo, como a esfera central, as plataformas giratórias, as esferas receptoras e a ambientação futurista proposta pela narrativa. As mecânicas de reconhecimento de cores, interação entre objetos e progressão de dificuldade apresentaram funcionamento adequado durante os testes realizados.</a:t>
            </a:r>
          </a:p>
          <a:p>
            <a:pPr algn="just"/>
            <a:r>
              <a:rPr lang="pt-BR" sz="1600" dirty="0"/>
              <a:t>Além disso, foram implementadas fases jogáveis, aumento progressivo da dificuldade e sistemas de ataques durante a gameplay, contribuindo para uma experiência dinâmica, estratégica e interativa. Os resultados alcançados confirmam a viabilidade técnica do projeto e o funcionamento das mecânicas propostas para a experiência gameplay.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42862" y="9206337"/>
            <a:ext cx="6003925" cy="40081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8255" algn="ctr">
              <a:lnSpc>
                <a:spcPct val="100000"/>
              </a:lnSpc>
              <a:spcBef>
                <a:spcPts val="95"/>
              </a:spcBef>
            </a:pPr>
            <a:r>
              <a:rPr lang="pt-BR" sz="2200" spc="-100" dirty="0">
                <a:latin typeface="Arial Black"/>
                <a:cs typeface="Arial Black"/>
              </a:rPr>
              <a:t>A </a:t>
            </a:r>
            <a:r>
              <a:rPr lang="pt-BR" sz="2200" spc="-215" dirty="0">
                <a:latin typeface="Arial Black"/>
                <a:cs typeface="Arial Black"/>
              </a:rPr>
              <a:t>PROPOSTA</a:t>
            </a:r>
          </a:p>
          <a:p>
            <a:pPr marR="8255" algn="ctr">
              <a:lnSpc>
                <a:spcPct val="100000"/>
              </a:lnSpc>
              <a:spcBef>
                <a:spcPts val="95"/>
              </a:spcBef>
            </a:pPr>
            <a:endParaRPr lang="pt-BR" sz="2200" spc="-215" dirty="0">
              <a:latin typeface="Arial Black"/>
              <a:cs typeface="Arial Black"/>
            </a:endParaRPr>
          </a:p>
          <a:p>
            <a:pPr algn="just"/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Sphere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Rebellion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é um jogo casual de ação e reflexo desenvolvido com foco em entretenimento, desafios dinâmicos e gameplay estratégica. O jogador permanece em uma plataforma giratória enquanto precisa lançar esferas nas cores corretas e desviar de ataques constantes realizados por uma grande estrutura central controlada por uma Inteligência Artificial. A dificuldade aumenta progressivamente durante a partida, exigindo atenção, precisão, coordenação motora e tomada de decisão rápida. A proposta do jogo é proporcionar uma experiência divertida, competitiva e desafiadora, utilizando uma ambientação futurista inspirada em ficção científica e Inteligência Artificial para criar maior imersão visual e interação com o jogador.</a:t>
            </a:r>
          </a:p>
          <a:p>
            <a:pPr marR="8255" algn="ctr">
              <a:lnSpc>
                <a:spcPct val="100000"/>
              </a:lnSpc>
              <a:spcBef>
                <a:spcPts val="95"/>
              </a:spcBef>
            </a:pPr>
            <a:endParaRPr lang="pt-BR" sz="2200" dirty="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0643" y="14232396"/>
            <a:ext cx="5648960" cy="376705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186055" algn="ctr">
              <a:lnSpc>
                <a:spcPct val="100000"/>
              </a:lnSpc>
              <a:spcBef>
                <a:spcPts val="135"/>
              </a:spcBef>
            </a:pPr>
            <a:r>
              <a:rPr sz="2200" spc="-215" dirty="0">
                <a:latin typeface="Arial Black"/>
                <a:cs typeface="Arial Black"/>
              </a:rPr>
              <a:t>TECNOLOGIAS</a:t>
            </a:r>
            <a:r>
              <a:rPr sz="2200" spc="-100" dirty="0">
                <a:latin typeface="Arial Black"/>
                <a:cs typeface="Arial Black"/>
              </a:rPr>
              <a:t> </a:t>
            </a:r>
            <a:r>
              <a:rPr sz="2200" spc="-110" dirty="0">
                <a:latin typeface="Arial Black"/>
                <a:cs typeface="Arial Black"/>
              </a:rPr>
              <a:t>UTILIZADAS</a:t>
            </a:r>
            <a:endParaRPr lang="pt-BR" sz="2200" spc="-110" dirty="0">
              <a:latin typeface="Arial Black"/>
              <a:cs typeface="Arial Black"/>
            </a:endParaRPr>
          </a:p>
          <a:p>
            <a:pPr marR="186055" algn="just">
              <a:lnSpc>
                <a:spcPct val="100000"/>
              </a:lnSpc>
              <a:spcBef>
                <a:spcPts val="135"/>
              </a:spcBef>
            </a:pPr>
            <a:endParaRPr lang="pt-BR" sz="2200" spc="-110" dirty="0">
              <a:latin typeface="Arial Black"/>
              <a:cs typeface="Arial Black"/>
            </a:endParaRPr>
          </a:p>
          <a:p>
            <a:pPr algn="just"/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Unity </a:t>
            </a:r>
            <a:r>
              <a:rPr lang="pt-B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Engine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— utilizada para o desenvolvimento do jogo e implementação das mecânicas.</a:t>
            </a:r>
          </a:p>
          <a:p>
            <a:pPr algn="just"/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Blender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— utilizado na criação e edição de alguns objetos e elementos 3D do jogo.</a:t>
            </a:r>
          </a:p>
          <a:p>
            <a:pPr algn="just"/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C#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— linguagem de programação utilizada no desenvolvimento dos sistemas e funcionalidades.</a:t>
            </a:r>
          </a:p>
          <a:p>
            <a:pPr algn="just"/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GitHub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— utilizado para versionamento, organização e armazenamento dos códigos do projeto.</a:t>
            </a:r>
          </a:p>
          <a:p>
            <a:pPr marR="186055" algn="ctr">
              <a:lnSpc>
                <a:spcPct val="100000"/>
              </a:lnSpc>
              <a:spcBef>
                <a:spcPts val="135"/>
              </a:spcBef>
            </a:pPr>
            <a:endParaRPr sz="2200" dirty="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204450" y="10543527"/>
            <a:ext cx="2333199" cy="1038746"/>
          </a:xfrm>
          <a:prstGeom prst="rect">
            <a:avLst/>
          </a:prstGeom>
          <a:solidFill>
            <a:srgbClr val="089E63"/>
          </a:solidFill>
          <a:ln w="3175">
            <a:solidFill>
              <a:srgbClr val="089E6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5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FOTOS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77104" y="10557460"/>
            <a:ext cx="2333199" cy="1025922"/>
          </a:xfrm>
          <a:prstGeom prst="rect">
            <a:avLst/>
          </a:prstGeom>
          <a:solidFill>
            <a:srgbClr val="089E63"/>
          </a:solidFill>
          <a:ln w="3175">
            <a:solidFill>
              <a:srgbClr val="089E6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</a:pP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FOTOS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25" name="object 4">
            <a:extLst>
              <a:ext uri="{FF2B5EF4-FFF2-40B4-BE49-F238E27FC236}">
                <a16:creationId xmlns:a16="http://schemas.microsoft.com/office/drawing/2014/main" id="{D8A9FE10-03CB-1960-F40B-AA5EE05B67F5}"/>
              </a:ext>
            </a:extLst>
          </p:cNvPr>
          <p:cNvSpPr/>
          <p:nvPr/>
        </p:nvSpPr>
        <p:spPr>
          <a:xfrm>
            <a:off x="411385" y="4348607"/>
            <a:ext cx="6466840" cy="4245665"/>
          </a:xfrm>
          <a:custGeom>
            <a:avLst/>
            <a:gdLst/>
            <a:ahLst/>
            <a:cxnLst/>
            <a:rect l="l" t="t" r="r" b="b"/>
            <a:pathLst>
              <a:path w="6466840" h="5172709">
                <a:moveTo>
                  <a:pt x="6466464" y="0"/>
                </a:moveTo>
                <a:lnTo>
                  <a:pt x="0" y="0"/>
                </a:lnTo>
                <a:lnTo>
                  <a:pt x="0" y="5172284"/>
                </a:lnTo>
                <a:lnTo>
                  <a:pt x="6466464" y="5172284"/>
                </a:lnTo>
                <a:lnTo>
                  <a:pt x="64664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pt-BR" dirty="0"/>
          </a:p>
        </p:txBody>
      </p:sp>
      <p:sp>
        <p:nvSpPr>
          <p:cNvPr id="26" name="object 17">
            <a:extLst>
              <a:ext uri="{FF2B5EF4-FFF2-40B4-BE49-F238E27FC236}">
                <a16:creationId xmlns:a16="http://schemas.microsoft.com/office/drawing/2014/main" id="{615D9413-81B3-4AF7-73B1-DF678A78B51C}"/>
              </a:ext>
            </a:extLst>
          </p:cNvPr>
          <p:cNvSpPr txBox="1"/>
          <p:nvPr/>
        </p:nvSpPr>
        <p:spPr>
          <a:xfrm>
            <a:off x="659971" y="4519943"/>
            <a:ext cx="6003925" cy="39029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8255" algn="ctr">
              <a:lnSpc>
                <a:spcPct val="100000"/>
              </a:lnSpc>
              <a:spcBef>
                <a:spcPts val="95"/>
              </a:spcBef>
            </a:pPr>
            <a:r>
              <a:rPr lang="pt-BR" sz="2200" spc="-100" dirty="0">
                <a:latin typeface="Arial Black"/>
                <a:cs typeface="Arial Black"/>
              </a:rPr>
              <a:t>O</a:t>
            </a:r>
            <a:r>
              <a:rPr lang="pt-BR" sz="2200" spc="-130" dirty="0">
                <a:latin typeface="Arial Black"/>
                <a:cs typeface="Arial Black"/>
              </a:rPr>
              <a:t> </a:t>
            </a:r>
            <a:r>
              <a:rPr lang="pt-BR" sz="2200" spc="-215" dirty="0">
                <a:latin typeface="Arial Black"/>
                <a:cs typeface="Arial Black"/>
              </a:rPr>
              <a:t>PROBLEMA</a:t>
            </a:r>
          </a:p>
          <a:p>
            <a:pPr marR="8255" algn="ctr">
              <a:lnSpc>
                <a:spcPct val="100000"/>
              </a:lnSpc>
              <a:spcBef>
                <a:spcPts val="95"/>
              </a:spcBef>
            </a:pPr>
            <a:endParaRPr lang="pt-BR" sz="2200" dirty="0">
              <a:latin typeface="Arial Black"/>
              <a:cs typeface="Arial Black"/>
            </a:endParaRPr>
          </a:p>
          <a:p>
            <a:r>
              <a:rPr lang="pt-BR" sz="1600" dirty="0"/>
              <a:t>O desenvolvimento do jogo “</a:t>
            </a:r>
            <a:r>
              <a:rPr lang="pt-BR" sz="1600" dirty="0" err="1"/>
              <a:t>Sphere</a:t>
            </a:r>
            <a:r>
              <a:rPr lang="pt-BR" sz="1600" dirty="0"/>
              <a:t> </a:t>
            </a:r>
            <a:r>
              <a:rPr lang="pt-BR" sz="1600" dirty="0" err="1"/>
              <a:t>Rebellion</a:t>
            </a:r>
            <a:r>
              <a:rPr lang="pt-BR" sz="1600" dirty="0"/>
              <a:t>” surgiu a partir do crescimento do interesse do público jovem por jogos rápidos, competitivos e dinâmicos. Segundo a Pesquisa Game Brasil 2024, os jogos digitais fazem parte do cotidiano da maioria dos jovens brasileiros, principalmente em gêneros de ação e estratégia.</a:t>
            </a:r>
          </a:p>
          <a:p>
            <a:r>
              <a:rPr lang="pt-BR" sz="1600" dirty="0"/>
              <a:t>Além do entretenimento, estudos apontam que jogos digitais podem estimular habilidades cognitivas como atenção, coordenação motora, reconhecimento de padrões e tomada de decisão rápida (REYNALDO et al., 2021; KRAUSE; HOUNSELL; GASPARINI, 2020). Diante desse contexto, identificou-se a oportunidade de desenvolver um jogo casual que unisse diversão, desafios progressivos e mecânicas capazes de estimular habilidades cognitivas durante a gameplay.</a:t>
            </a:r>
          </a:p>
        </p:txBody>
      </p:sp>
      <p:sp>
        <p:nvSpPr>
          <p:cNvPr id="27" name="object 24">
            <a:extLst>
              <a:ext uri="{FF2B5EF4-FFF2-40B4-BE49-F238E27FC236}">
                <a16:creationId xmlns:a16="http://schemas.microsoft.com/office/drawing/2014/main" id="{7705D6E8-CBAB-47C0-EC59-ED9F6373AB7D}"/>
              </a:ext>
            </a:extLst>
          </p:cNvPr>
          <p:cNvSpPr txBox="1"/>
          <p:nvPr/>
        </p:nvSpPr>
        <p:spPr>
          <a:xfrm>
            <a:off x="7380183" y="11879985"/>
            <a:ext cx="2340704" cy="1025922"/>
          </a:xfrm>
          <a:prstGeom prst="rect">
            <a:avLst/>
          </a:prstGeom>
          <a:solidFill>
            <a:srgbClr val="089E63"/>
          </a:solidFill>
          <a:ln w="3175">
            <a:solidFill>
              <a:srgbClr val="089E6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</a:pP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FOTOS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28" name="object 24">
            <a:extLst>
              <a:ext uri="{FF2B5EF4-FFF2-40B4-BE49-F238E27FC236}">
                <a16:creationId xmlns:a16="http://schemas.microsoft.com/office/drawing/2014/main" id="{3B2DC557-D26A-30CE-714C-5B248FC30493}"/>
              </a:ext>
            </a:extLst>
          </p:cNvPr>
          <p:cNvSpPr txBox="1"/>
          <p:nvPr/>
        </p:nvSpPr>
        <p:spPr>
          <a:xfrm>
            <a:off x="10196945" y="11877135"/>
            <a:ext cx="2340704" cy="1025922"/>
          </a:xfrm>
          <a:prstGeom prst="rect">
            <a:avLst/>
          </a:prstGeom>
          <a:solidFill>
            <a:srgbClr val="089E63"/>
          </a:solidFill>
          <a:ln w="3175">
            <a:solidFill>
              <a:srgbClr val="089E6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</a:pP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FOTOS</a:t>
            </a:r>
            <a:endParaRPr sz="1500" dirty="0">
              <a:latin typeface="Arial"/>
              <a:cs typeface="Arial"/>
            </a:endParaRPr>
          </a:p>
        </p:txBody>
      </p:sp>
      <p:pic>
        <p:nvPicPr>
          <p:cNvPr id="31" name="object 16" descr="Uma imagem contendo Ícone  O conteúdo gerado por IA pode estar incorreto.">
            <a:extLst>
              <a:ext uri="{FF2B5EF4-FFF2-40B4-BE49-F238E27FC236}">
                <a16:creationId xmlns:a16="http://schemas.microsoft.com/office/drawing/2014/main" id="{6A6275C6-1E69-934A-26E7-9982B6EA07CD}"/>
              </a:ext>
            </a:extLst>
          </p:cNvPr>
          <p:cNvPicPr/>
          <p:nvPr/>
        </p:nvPicPr>
        <p:blipFill>
          <a:blip r:embed="rId7" cstate="print"/>
          <a:srcRect l="28018" t="6138" r="51209" b="30913"/>
          <a:stretch/>
        </p:blipFill>
        <p:spPr>
          <a:xfrm>
            <a:off x="743228" y="15648787"/>
            <a:ext cx="247418" cy="246443"/>
          </a:xfrm>
          <a:prstGeom prst="rect">
            <a:avLst/>
          </a:prstGeom>
        </p:spPr>
      </p:pic>
      <p:pic>
        <p:nvPicPr>
          <p:cNvPr id="37" name="object 16" descr="Uma imagem contendo Ícone  O conteúdo gerado por IA pode estar incorreto.">
            <a:extLst>
              <a:ext uri="{FF2B5EF4-FFF2-40B4-BE49-F238E27FC236}">
                <a16:creationId xmlns:a16="http://schemas.microsoft.com/office/drawing/2014/main" id="{2E188827-4026-5F10-CE87-CEDCB6B1FB39}"/>
              </a:ext>
            </a:extLst>
          </p:cNvPr>
          <p:cNvPicPr/>
          <p:nvPr/>
        </p:nvPicPr>
        <p:blipFill>
          <a:blip r:embed="rId7" cstate="print"/>
          <a:srcRect l="3788" r="74691" b="26130"/>
          <a:stretch/>
        </p:blipFill>
        <p:spPr>
          <a:xfrm>
            <a:off x="731472" y="14895303"/>
            <a:ext cx="259174" cy="305885"/>
          </a:xfrm>
          <a:prstGeom prst="rect">
            <a:avLst/>
          </a:prstGeom>
        </p:spPr>
      </p:pic>
      <p:pic>
        <p:nvPicPr>
          <p:cNvPr id="38" name="object 16" descr="Uma imagem contendo Ícone  O conteúdo gerado por IA pode estar incorreto.">
            <a:extLst>
              <a:ext uri="{FF2B5EF4-FFF2-40B4-BE49-F238E27FC236}">
                <a16:creationId xmlns:a16="http://schemas.microsoft.com/office/drawing/2014/main" id="{3B513D73-5795-18D1-3106-92682F8E0A83}"/>
              </a:ext>
            </a:extLst>
          </p:cNvPr>
          <p:cNvPicPr/>
          <p:nvPr/>
        </p:nvPicPr>
        <p:blipFill>
          <a:blip r:embed="rId7" cstate="print"/>
          <a:srcRect l="52585" t="6708" r="27863" b="30345"/>
          <a:stretch/>
        </p:blipFill>
        <p:spPr>
          <a:xfrm>
            <a:off x="754844" y="16366433"/>
            <a:ext cx="259174" cy="259093"/>
          </a:xfrm>
          <a:prstGeom prst="rect">
            <a:avLst/>
          </a:prstGeom>
        </p:spPr>
      </p:pic>
      <p:pic>
        <p:nvPicPr>
          <p:cNvPr id="16" name="object 16" descr="Uma imagem contendo Ícone  O conteúdo gerado por IA pode estar incorreto."/>
          <p:cNvPicPr/>
          <p:nvPr/>
        </p:nvPicPr>
        <p:blipFill>
          <a:blip r:embed="rId7" cstate="print"/>
          <a:srcRect l="75760" t="4566" r="4689" b="32486"/>
          <a:stretch/>
        </p:blipFill>
        <p:spPr>
          <a:xfrm>
            <a:off x="743228" y="17096729"/>
            <a:ext cx="271123" cy="2590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708</Words>
  <Application>Microsoft Office PowerPoint</Application>
  <PresentationFormat>Personalizar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Times New Roman</vt:lpstr>
      <vt:lpstr>Trebuchet MS</vt:lpstr>
      <vt:lpstr>Office Theme</vt:lpstr>
      <vt:lpstr>SPHERE REBELLION Max Tocantins Quaglia; Rafael Domingues Boccia; Saulo Sanches Menezes; Victor de Oliveira Nascimento Orientadorer: Victor Bruno Alexander Rosetti de Quiroz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Saulo Sanches Menezes</dc:creator>
  <cp:lastModifiedBy>Saulo Sanches Menezes</cp:lastModifiedBy>
  <cp:revision>1</cp:revision>
  <dcterms:created xsi:type="dcterms:W3CDTF">2026-05-08T13:24:54Z</dcterms:created>
  <dcterms:modified xsi:type="dcterms:W3CDTF">2026-05-08T13:59:03Z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2026-05-01T00:00:00Z</vt:filetime>
  </property>
  <property fmtid="{D5CDD505-2E9C-101B-9397-08002B2CF9AE}" pid="3" name="LastSaved">
    <vt:filetime>2026-05-08T00:00:00Z</vt:filetime>
  </property>
</Properties>
</file>